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MOBILITY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EVTOL  ·  BENGALURU  ·  EST. 2024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DRIVE THE FUTURE
</a:t>
            </a:r>
            <a:pPr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mobility for modern explorers. Navigate the city effortlessly with MyLu — a single-seat eVTOL designed for comfort and overall safety, with almost no pilot inputs based on FSP.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 kg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ALL-UP WEIGHT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1752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km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1752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RANGE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77840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4956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FAILSAFE LEVELS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760720" y="1005840"/>
            <a:ext cx="3108960" cy="3566160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078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TRACKING · MYLU-01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· 360°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286000" cy="1828800"/>
          </a:xfrm>
          <a:prstGeom prst="ellipse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0" y="1920240"/>
            <a:ext cx="1645920" cy="1005840"/>
          </a:xfrm>
          <a:prstGeom prst="rect">
            <a:avLst/>
          </a:prstGeom>
          <a:solidFill>
            <a:srgbClr val="0C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MYLU · EVTOL PROTOTYPE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36092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FSP ENABLED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806440" y="42519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806440" y="44074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0042 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42519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583680" y="44074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040 KM/H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0920" y="42519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60920" y="44074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42519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138160" y="44074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UPMA'S MYLU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URBAN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COMMUTE, 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ELEVATED.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94960" y="640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eVTOL prototype with AUW of 200 Kg, designed to carry a single pilot over 10–12 km in a quarter of an hour — and grow into 40 km, 1-hour endurance machines.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754880" cy="1737360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214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MEDIUM-TERM VISION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MyLu manually with minimal skill — as long as take-off and landing spots are flat with a 10 m × 10 m clear area. Endurance of at least 1 hour and a 40 km range.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FSP — Fully Self Piloted System based on fusion of LiDAR and Computer Vision, so flying becomes as simple as pressing a destination.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4754880" cy="914400"/>
          </a:xfrm>
          <a:prstGeom prst="rect">
            <a:avLst/>
          </a:prstGeom>
          <a:solidFill>
            <a:srgbClr val="0A1E3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"Look for better ways to commute through effective utilization of air medium and provide newer means of value chain creation."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553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UPMA MISSION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394960" y="173736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33872" y="1737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ELEVATED CORRIDORS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33872" y="195681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urban landscape from one elevated corridor to another.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94960" y="2487168"/>
            <a:ext cx="35661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4960" y="256032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33872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ON-BOARD DIAGNOSTICS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33872" y="27797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telemetry to enhance situational awareness, in flight and on the ground.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94960" y="3310128"/>
            <a:ext cx="35661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338328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33872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LEVELS OF FAILSAFE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33872" y="360273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redundancy in propulsion, power, comms and control.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394960" y="4133088"/>
            <a:ext cx="35661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420624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33872" y="4206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MONITOR &amp; CONTROL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33872" y="4425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remotely controlled and monitored when required, anywhere in range.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OUR CUSTOM OFFERINGS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VARIANTS.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FLIGHT PHILOSOPHY.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configuration that suits your mission — varying ATOW, range and endurance, all built around the same modular airframe.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1645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MAYUR 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2468880"/>
            <a:ext cx="1645920" cy="34747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MYLU 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2468880"/>
            <a:ext cx="1645920" cy="347472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8 / 3-BATT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44368"/>
            <a:ext cx="2697480" cy="2029968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01 · 6-PROPULSION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MAYUR 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538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Long-Range Trainer · Light-Frame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agile 6-prop that earned MyLu its wings. Light, lively and proven in hangar trials — designed for pilots who want range and dwell time over payload.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1-Seater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1732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Kg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km/h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41732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28600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7560" y="2944368"/>
            <a:ext cx="2697480" cy="2029968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02 · 8-PROPULSION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4290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MYLU 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29000" y="3538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Lifter · Dual-Battery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29000" y="3749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rotors for greater redundancy and payload. The production-intent platform with upgraded power and a more robust failsafe stack.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42900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1-Seater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9768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Kg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6636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km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2900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km/h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9768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16636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kW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17920" y="2944368"/>
            <a:ext cx="2697480" cy="2029968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0175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03 · EXTENDED RANGE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0936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MORE 8 / 3-BATT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309360" y="3538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Endurance · Triple Battery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09360" y="3749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endurance configuration with three battery packs and a reinforced airframe. Designed for the 40 km, 1-hour mission target.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30936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1-Seater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7804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Kg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046720" y="4498848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46720" y="449884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km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0936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km/h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7804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7804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46720" y="4745736"/>
            <a:ext cx="804672" cy="219456"/>
          </a:xfrm>
          <a:prstGeom prst="rect">
            <a:avLst/>
          </a:prstGeom>
          <a:solidFill>
            <a:srgbClr val="16243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46720" y="474573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kW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IS OUR PRIORITY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COMMUTE WITH </a:t>
            </a:r>
            <a:pPr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CONFIDENCE.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0" y="594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demanding piloting skills required. Every MyLu ships with the sensors, redundancy and remote operations stack to fly safely in cramped urban airspace.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97480" cy="1828800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01 / SENSING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FOR TAKE-OFF &amp; LANDING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Equipped with LiDAR for take-off and landing in cramped spaces — the system scans the pad before commit.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2697480" cy="1828800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02 / COMMS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2900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LONG-RANGE TELEMETRY ×2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3101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Equipped with two long-range telemetry modules for remote operations and full-link redundancy.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697480" cy="1828800"/>
          </a:xfrm>
          <a:prstGeom prst="rect">
            <a:avLst/>
          </a:prstGeom>
          <a:solidFill>
            <a:srgbClr val="0F1E35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2219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1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03 / NAVIGATION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309360" y="2971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EMI-PROOF COMPASS + GPS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3101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Well-tested EMI-proof compass and GPS for predictable flight characteristics, even in dense urban airspace.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114800"/>
            <a:ext cx="9144000" cy="102412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FOLDABILITY FOR STORAGE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4074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PARK IT LIKE A </a:t>
            </a:r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TWO-WHEELER.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29200" y="4206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MyLu's airframe folds for storage so you can keep it where you keep your bike. Roll it out, unfold the propulsion booms, and you're cleared for the next 10 km hop.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UPMA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WE'RE BUILDING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YOU.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looking for partners and vendors across propulsion systems, batteries and battery-management systems, and avionics. If you build it, we'd like to fly with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05156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Propulsion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0" y="3063240"/>
            <a:ext cx="1284732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063240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cells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7812" y="3063240"/>
            <a:ext cx="91440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7812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9372" y="3063240"/>
            <a:ext cx="91440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9372" y="3063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Avionics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447288"/>
            <a:ext cx="1673352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4728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airframe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67712" y="3447288"/>
            <a:ext cx="973836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67712" y="3447288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78708" y="3447288"/>
            <a:ext cx="1440180" cy="274320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8708" y="344728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stations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502920"/>
            <a:ext cx="3566160" cy="3931920"/>
          </a:xfrm>
          <a:prstGeom prst="rect">
            <a:avLst/>
          </a:prstGeom>
          <a:solidFill>
            <a:srgbClr val="0F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502920"/>
            <a:ext cx="35661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685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TEAM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58968" y="114300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897880" y="1307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www.upma.tech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58968" y="1828800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58968" y="205740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57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897880" y="22219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Main Road, Indian Express Layout,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Kodigehalli, Bengaluru, India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58968" y="2743200"/>
            <a:ext cx="32918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58968" y="297180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897880" y="3136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hello@upma.tech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58968" y="3520440"/>
            <a:ext cx="2240280" cy="384048"/>
          </a:xfrm>
          <a:prstGeom prst="rect">
            <a:avLst/>
          </a:prstGeom>
          <a:solidFill>
            <a:srgbClr val="050D1A"/>
          </a:solidFill>
          <a:ln w="12700">
            <a:solidFill>
              <a:srgbClr val="2E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58968" y="3520440"/>
            <a:ext cx="2240280" cy="3840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E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your.email@company.com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35824" y="3520440"/>
            <a:ext cx="10972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35824" y="3520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30A14"/>
          </a:solidFill>
          <a:ln w="12700">
            <a:solidFill>
              <a:srgbClr val="030A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646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UPMA FUTURE MOBILITY  ·  www.upma.tech  ·  Bengaluru, India  ·  hello@upma.tech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UPMA – Future Mobility</dc:title>
  <dc:subject>PptxGenJS Presentation</dc:subject>
  <dc:creator>PptxGenJS</dc:creator>
  <cp:lastModifiedBy>PptxGenJS</cp:lastModifiedBy>
  <cp:revision>1</cp:revision>
  <dcterms:created xsi:type="dcterms:W3CDTF">2026-05-10T09:03:41Z</dcterms:created>
  <dcterms:modified xsi:type="dcterms:W3CDTF">2026-05-10T09:03:41Z</dcterms:modified>
</cp:coreProperties>
</file>